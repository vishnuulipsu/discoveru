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  <a:defRPr sz="2100" b="1">
                <a:solidFill>
                  <a:srgbClr val="1E1B4B"/>
                </a:solidFill>
                <a:latin typeface="Arial"/>
              </a:defRPr>
            </a:pPr>
            <a:r>
              <a:t>Team Details &amp; Project Overview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75569"/>
                </a:solidFill>
                <a:latin typeface="Arial"/>
              </a:rPr>
              <a:t>Team Name:  </a:t>
            </a:r>
            <a:r>
              <a:rPr sz="1700" b="1">
                <a:solidFill>
                  <a:srgbClr val="D97706"/>
                </a:solidFill>
                <a:latin typeface="Arial"/>
              </a:rPr>
              <a:t>UlipsuGenAI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75569"/>
                </a:solidFill>
                <a:latin typeface="Arial"/>
              </a:rPr>
              <a:t>Team Leader:  </a:t>
            </a:r>
            <a:r>
              <a:rPr sz="1600" b="1">
                <a:solidFill>
                  <a:srgbClr val="1E1B4B"/>
                </a:solidFill>
                <a:latin typeface="Arial"/>
              </a:rPr>
              <a:t>Vishnu Murti Choudhary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75569"/>
                </a:solidFill>
                <a:latin typeface="Arial"/>
              </a:rPr>
              <a:t>Problem Statement:  </a:t>
            </a:r>
            <a:r>
              <a:rPr sz="1450" b="1">
                <a:solidFill>
                  <a:srgbClr val="1E1B4B"/>
                </a:solidFill>
                <a:latin typeface="Arial"/>
              </a:rPr>
              <a:t>DiscoverU : Dual-Perspective AI Situational Assessment Platform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75569"/>
                </a:solidFill>
                <a:latin typeface="Arial"/>
              </a:rPr>
              <a:t>Target Personas:  </a:t>
            </a:r>
            <a:r>
              <a:rPr sz="1350" b="1">
                <a:solidFill>
                  <a:srgbClr val="4338CA"/>
                </a:solidFill>
                <a:latin typeface="Arial"/>
              </a:rPr>
              <a:t>Currently Built For: Students (Freshers) &amp; Working Professionals (Scalable for Recruiters)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75569"/>
                </a:solidFill>
                <a:latin typeface="Arial"/>
              </a:rPr>
              <a:t>Tagline &amp; Track:  </a:t>
            </a:r>
            <a:r>
              <a:rPr sz="1250" b="0">
                <a:solidFill>
                  <a:srgbClr val="475569"/>
                </a:solidFill>
                <a:latin typeface="Arial"/>
              </a:rPr>
              <a:t>Make Your Next Move Count | AI Builder Cup - Generative AI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560320"/>
            <a:ext cx="2286000" cy="5157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Brief About The Idea : DiscoverU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Persona-Driven AI Situational Assessment Built for Freshers &amp; Professionals (Scalable for Recruiters)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250" b="1">
                <a:solidFill>
                  <a:srgbClr val="7C3AED"/>
                </a:solidFill>
                <a:latin typeface="Arial"/>
              </a:defRPr>
            </a:pPr>
            <a:r>
              <a:t>1. Student (Fresher) Track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Target Audience: </a:t>
            </a:r>
            <a:r>
              <a:rPr sz="950">
                <a:solidFill>
                  <a:srgbClr val="475569"/>
                </a:solidFill>
                <a:latin typeface="Arial"/>
              </a:rPr>
              <a:t>College graduates, entry-level candidates, and early-career job seekers.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Methodology: </a:t>
            </a:r>
            <a:r>
              <a:rPr sz="950">
                <a:solidFill>
                  <a:srgbClr val="475569"/>
                </a:solidFill>
                <a:latin typeface="Arial"/>
              </a:rPr>
              <a:t>16 targeted option-based questions combining MBTI Archetypes (12 Qs across E/I, S/N, T/F, J/P) + Holland Vocational Interest mapping (4 Qs).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Outcome: </a:t>
            </a:r>
            <a:r>
              <a:rPr sz="950">
                <a:solidFill>
                  <a:srgbClr val="475569"/>
                </a:solidFill>
                <a:latin typeface="Arial"/>
              </a:rPr>
              <a:t>Identifies natural strengths, career trajectory alignment, and workplace culture readiness without high-pressure test anxiety.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18688" y="1188720"/>
            <a:ext cx="26974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250" b="1">
                <a:solidFill>
                  <a:srgbClr val="D97706"/>
                </a:solidFill>
                <a:latin typeface="Arial"/>
              </a:defRPr>
            </a:pPr>
            <a:r>
              <a:t>2. Working Professional Track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Target Audience: </a:t>
            </a:r>
            <a:r>
              <a:rPr sz="950">
                <a:solidFill>
                  <a:srgbClr val="475569"/>
                </a:solidFill>
                <a:latin typeface="Arial"/>
              </a:rPr>
              <a:t>Mid-to-senior professionals, domain specialists, and team leads.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Methodology: </a:t>
            </a:r>
            <a:r>
              <a:rPr sz="950">
                <a:solidFill>
                  <a:srgbClr val="475569"/>
                </a:solidFill>
                <a:latin typeface="Arial"/>
              </a:rPr>
              <a:t>34 comprehensive questions: 30 Likert-scale questions across OCEAN Big Five dimensions + 4 questions on a high-stakes crisis dilemma using STAR methodology.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Outcome: </a:t>
            </a:r>
            <a:r>
              <a:rPr sz="950">
                <a:solidFill>
                  <a:srgbClr val="475569"/>
                </a:solidFill>
                <a:latin typeface="Arial"/>
              </a:rPr>
              <a:t>Deep situational judgment diagnostic, leadership ownership analysis, and ethical reasoning verification.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71616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250" b="1">
                <a:solidFill>
                  <a:srgbClr val="1E1B4B"/>
                </a:solidFill>
                <a:latin typeface="Arial"/>
              </a:defRPr>
            </a:pPr>
            <a:r>
              <a:t>3. Seamless Scale for Recruiters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Campus Recruitment Scale: </a:t>
            </a:r>
            <a:r>
              <a:rPr sz="950">
                <a:solidFill>
                  <a:srgbClr val="475569"/>
                </a:solidFill>
                <a:latin typeface="Arial"/>
              </a:rPr>
              <a:t>Automates high-volume fresher screening, mapping student behavioral traits directly to entry-level job profiles.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Lateral Hiring Scale: </a:t>
            </a:r>
            <a:r>
              <a:rPr sz="950">
                <a:solidFill>
                  <a:srgbClr val="475569"/>
                </a:solidFill>
                <a:latin typeface="Arial"/>
              </a:rPr>
              <a:t>Evaluates senior candidates' rationale in complex crisis management scenarios, cutting interview cycles by 70%.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Enterprise Intelligence: </a:t>
            </a:r>
            <a:r>
              <a:rPr sz="950">
                <a:solidFill>
                  <a:srgbClr val="475569"/>
                </a:solidFill>
                <a:latin typeface="Arial"/>
              </a:rPr>
              <a:t>Aggregated cohort analytics, candidate comparison radar charts, and behavioral risk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Opportunities &amp; Proposed Solution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Persona-Adaptive Assessment Architecture Scalable to Enterprise Hiring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How Different From Existing Ideas?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Persona-Aware Architecture: </a:t>
            </a:r>
            <a:r>
              <a:rPr sz="950">
                <a:solidFill>
                  <a:srgbClr val="475569"/>
                </a:solidFill>
                <a:latin typeface="Arial"/>
              </a:rPr>
              <a:t>One size does not fit all. Distinct tracks for Students (Vocational/MBTI) vs Working Professionals (OCEAN/STAR crisis dilemmas).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Dual-Pane Reasoning: </a:t>
            </a:r>
            <a:r>
              <a:rPr sz="950">
                <a:solidFill>
                  <a:srgbClr val="475569"/>
                </a:solidFill>
                <a:latin typeface="Arial"/>
              </a:rPr>
              <a:t>Captures the candidate's rationale behind decisions, preventing guess-work gaming.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Growth-First Philosophy: </a:t>
            </a:r>
            <a:r>
              <a:rPr sz="950">
                <a:solidFill>
                  <a:srgbClr val="475569"/>
                </a:solidFill>
                <a:latin typeface="Arial"/>
              </a:rPr>
              <a:t>Delivers empowering coaching to candidates while producing high-signal dossiers for recruiters.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18688" y="1188720"/>
            <a:ext cx="26974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How Will It Solve The Problem?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Bridging Campus to Corporate: </a:t>
            </a:r>
            <a:r>
              <a:rPr sz="950">
                <a:solidFill>
                  <a:srgbClr val="475569"/>
                </a:solidFill>
                <a:latin typeface="Arial"/>
              </a:rPr>
              <a:t>Helps freshers identify their workstyle strengths and areas of growth before job interviews.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Validating Professional Judgment: </a:t>
            </a:r>
            <a:r>
              <a:rPr sz="950">
                <a:solidFill>
                  <a:srgbClr val="475569"/>
                </a:solidFill>
                <a:latin typeface="Arial"/>
              </a:rPr>
              <a:t>Tests experienced talent on realistic high-stakes workplace dilemmas under time and ethical pressure.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Unbiased Recruiter Signals: </a:t>
            </a:r>
            <a:r>
              <a:rPr sz="950">
                <a:solidFill>
                  <a:srgbClr val="475569"/>
                </a:solidFill>
                <a:latin typeface="Arial"/>
              </a:rPr>
              <a:t>Replaces resume keyword filtering with objective situational reasoning metrics.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71616" y="1188720"/>
            <a:ext cx="26974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t>Unique Selling Proposition (USP)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Dual Persona Engine: </a:t>
            </a:r>
            <a:r>
              <a:rPr sz="950">
                <a:solidFill>
                  <a:srgbClr val="475569"/>
                </a:solidFill>
                <a:latin typeface="Arial"/>
              </a:rPr>
              <a:t>Dedicated Student &amp; Professional tracks tailored to career maturity.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Dual-Pane Evaluation: </a:t>
            </a:r>
            <a:r>
              <a:rPr sz="950">
                <a:solidFill>
                  <a:srgbClr val="475569"/>
                </a:solidFill>
                <a:latin typeface="Arial"/>
              </a:rPr>
              <a:t>Combines action choices with structured written rationale justification.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Trilingual Delivery: </a:t>
            </a:r>
            <a:r>
              <a:rPr sz="950">
                <a:solidFill>
                  <a:srgbClr val="475569"/>
                </a:solidFill>
                <a:latin typeface="Arial"/>
              </a:rPr>
              <a:t>Native situational context across English, Hindi, and Kannada.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Recruiter Scalability: </a:t>
            </a:r>
            <a:r>
              <a:rPr sz="950">
                <a:solidFill>
                  <a:srgbClr val="475569"/>
                </a:solidFill>
                <a:latin typeface="Arial"/>
              </a:rPr>
              <a:t>From individual candidate growth to enterprise-wide batch recruitment drives.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List of Features Offered by DiscoverU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Specialized Persona Capabilities with Enterprise Recruiter Scalability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5760" y="1188720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7C3AED"/>
                </a:solidFill>
                <a:latin typeface="Arial"/>
              </a:defRPr>
            </a:pPr>
            <a:r>
              <a:t>1. Student Track (16 Questions)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MBTI Archetype evaluation (12 Qs) + Holland Vocational Interest mapping (4 Qs) designed for college graduates and freshers.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0" y="1188720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2. Working Professional Track (34 Qs)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30 Likert questions across OCEAN dimensions + 4 questions on a high-stakes workplace crisis scenario using STAR method.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5760" y="2029968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t>3. Dual-Pane Rationale Interface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Candidates choose their course of action and articulate their written reasoning, evaluating authentic situational judgment.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0" y="2029968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t>4. Trilingual Localization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Real-time toggle across English, Hindi, and Kannada with vernacular scenarios tailored to Indian workplace contexts.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2871216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D97706"/>
                </a:solidFill>
                <a:latin typeface="Arial"/>
              </a:defRPr>
            </a:pPr>
            <a:r>
              <a:t>5. Gemini 2.5 Pro Diagnostic Engine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Analyzes rationale against standardized rubrics, assessing ethical integrity, emotional intelligence, and risk flags.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2000" y="2871216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t>6. Candidate Growth &amp; Coaching Roadmap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Personalized development report with strengths spotlight, developmental blind spots, and 30-60-90 day coaching tips.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5760" y="3712464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t>7. Recruiter Talent Intelligence Suite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Batch applicant ranking, candidate comparison radar, OCEAN score breakdown, and risk detection for hiring scale.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0" y="3712464"/>
            <a:ext cx="40050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spcAft>
                <a:spcPts val="200"/>
              </a:spcAft>
              <a:defRPr sz="1050" b="1">
                <a:solidFill>
                  <a:srgbClr val="1E1B4B"/>
                </a:solidFill>
                <a:latin typeface="Arial"/>
              </a:defRPr>
            </a:pPr>
            <a:r>
              <a:t>8. Autosave Resilience &amp; Offline Protection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Client-side state recovery, robust error boundaries, and seamless test submission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Process Flow &amp; End-to-End User Journey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Architectural Flow from Persona Selection to Individual Growth &amp; Recruiter Scale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760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Arial"/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t>Persona Track Selection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Candidate selects persona: 'Student Track' (Freshers) or 'Working Professional Track' + Preferred Language (EN/HI/KN).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01952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993392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1E1B4B"/>
                </a:solidFill>
                <a:latin typeface="Arial"/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t>Adaptive Assessment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Students: 16 MBTI/Holland Qs. Professionals: 30 OCEAN Qs + 4 STAR crisis scenario dilemmas with rationale input.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29584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21024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1E1B4B"/>
                </a:solidFill>
                <a:latin typeface="Arial"/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t>Resilient State Ingestion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Client auto-saves progress locally; API validates inputs with schema boundaries and error guards.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57216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248656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t>Step 4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t>Gemini 2.5 Pro Inference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LLM parses responses and rationale against standardized rubrics, computing psychometric scores &amp; risk flags.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84848" y="24688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876288" y="1280160"/>
            <a:ext cx="157276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Step 5</a:t>
            </a:r>
          </a:p>
          <a:p>
            <a:pPr>
              <a:spcAft>
                <a:spcPts val="8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t>Dual Dispatch &amp; Scale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Generates Candidate Growth Roadmap (Strengths &amp; Action Plan) and funnels into Recruiter Dashboard for hiring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Wireframes &amp; Persona-Based Interface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Configured Personas: Working Professional Track vs Student Track</a:t>
            </a:r>
          </a:p>
        </p:txBody>
      </p:sp>
      <p:pic>
        <p:nvPicPr>
          <p:cNvPr id="104" name="Picture 103" descr="persona_track_sel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234440"/>
            <a:ext cx="3977639" cy="487221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365760" y="3154680"/>
            <a:ext cx="3977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Persona Track Selector UI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Working Professional: </a:t>
            </a:r>
            <a:r>
              <a:rPr sz="850">
                <a:solidFill>
                  <a:srgbClr val="475569"/>
                </a:solidFill>
                <a:latin typeface="Arial"/>
              </a:rPr>
              <a:t>30 Likert Qs + 4 STAR Crisis Dilemma Qs.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Student Track: </a:t>
            </a:r>
            <a:r>
              <a:rPr sz="850">
                <a:solidFill>
                  <a:srgbClr val="475569"/>
                </a:solidFill>
                <a:latin typeface="Arial"/>
              </a:rPr>
              <a:t>12 MBTI Qs + 4 Holland Vocational Interest Qs.</a:t>
            </a:r>
          </a:p>
        </p:txBody>
      </p:sp>
      <p:pic>
        <p:nvPicPr>
          <p:cNvPr id="106" name="Picture 105" descr="screenshot_assess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1234440"/>
            <a:ext cx="3977639" cy="248602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4526280" y="3703320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Dual-Pane Situational Assessment Screen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Features: </a:t>
            </a:r>
            <a:r>
              <a:rPr sz="850">
                <a:solidFill>
                  <a:srgbClr val="475569"/>
                </a:solidFill>
                <a:latin typeface="Arial"/>
              </a:rPr>
              <a:t>Dilemma scenario + Choice options + Written rationale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System Architecture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Four-Tier Decoupled Architecture for Scalability, Speed &amp; AI Reliability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65760" y="118872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t>Tier 1: Presentation Layer</a:t>
            </a:r>
            <a:r>
              <a:rPr sz="950" b="0">
                <a:solidFill>
                  <a:srgbClr val="475569"/>
                </a:solidFill>
              </a:rPr>
              <a:t>  --  Next.js 15 App Router | React 19 | Tailwind CSS | Lucide Icons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Persona Selection (Student vs Professional), Dual-Pane Assessment UI, Trilingual Toggle, Client Auto-Save &amp; Offline Resilience.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5760" y="201168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t>Tier 2: Application &amp; API Layer</a:t>
            </a:r>
            <a:r>
              <a:rPr sz="950" b="0">
                <a:solidFill>
                  <a:srgbClr val="475569"/>
                </a:solidFill>
              </a:rPr>
              <a:t>  --  Next.js Server Actions &amp; REST API Endpoints (Node.js 20/22 LTS)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Endpoints (/api/assessment, /api/recruiter, /api/admin, /api/seed), Payload Validation, Zod Schema Enforcement, Auth Guards.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65760" y="283464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Tier 3: AI Intelligence Engine</a:t>
            </a:r>
            <a:r>
              <a:rPr sz="950" b="0">
                <a:solidFill>
                  <a:srgbClr val="475569"/>
                </a:solidFill>
              </a:rPr>
              <a:t>  --  Google Gemini 2.5 Pro / Flash &amp; Google GenAI SDK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DiscoverU Master Prompt System, Structured JSON Output Enforcement, OCEAN &amp; MBTI/Holland Behavioral Rubrics.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65760" y="365760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Tier 4: Data &amp; Infrastructure</a:t>
            </a:r>
            <a:r>
              <a:rPr sz="950" b="0">
                <a:solidFill>
                  <a:srgbClr val="475569"/>
                </a:solidFill>
              </a:rPr>
              <a:t>  --  MongoDB Document Store | PM2 Cluster | Nginx SSL Reverse Proxy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Assessment scenarios, candidate submissions, benchmark datasets, Let's Encrypt SSL, Ubuntu 22.04 LTS host (evalsmart.kidvento.com).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Technologies Used in DiscoverU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Modern, Scalable &amp; Enterprise-Ready Tech Stack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576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Frontend &amp; UI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Next.js 15 (Turbopack): </a:t>
            </a:r>
            <a:r>
              <a:rPr sz="900">
                <a:solidFill>
                  <a:srgbClr val="475569"/>
                </a:solidFill>
                <a:latin typeface="Arial"/>
              </a:rPr>
              <a:t>Ultra-fast App Router architecture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React 19 &amp; TypeScript: </a:t>
            </a:r>
            <a:r>
              <a:rPr sz="900">
                <a:solidFill>
                  <a:srgbClr val="475569"/>
                </a:solidFill>
                <a:latin typeface="Arial"/>
              </a:rPr>
              <a:t>Strictly-typed reactive components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Tailwind CSS: </a:t>
            </a:r>
            <a:r>
              <a:rPr sz="900">
                <a:solidFill>
                  <a:srgbClr val="475569"/>
                </a:solidFill>
                <a:latin typeface="Arial"/>
              </a:rPr>
              <a:t>Modern utility-first responsive styling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Persona Adapters: </a:t>
            </a:r>
            <a:r>
              <a:rPr sz="900">
                <a:solidFill>
                  <a:srgbClr val="475569"/>
                </a:solidFill>
                <a:latin typeface="Arial"/>
              </a:rPr>
              <a:t>Modular flows for Student &amp; Professional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7200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t>GenAI &amp; Intelligence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Google Gemini 2.5 Pro: </a:t>
            </a:r>
            <a:r>
              <a:rPr sz="900">
                <a:solidFill>
                  <a:srgbClr val="475569"/>
                </a:solidFill>
                <a:latin typeface="Arial"/>
              </a:rPr>
              <a:t>Advanced reasoning &amp; rubric analysis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Google GenAI SDK: </a:t>
            </a:r>
            <a:r>
              <a:rPr sz="900">
                <a:solidFill>
                  <a:srgbClr val="475569"/>
                </a:solidFill>
                <a:latin typeface="Arial"/>
              </a:rPr>
              <a:t>Direct low-latency API integration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Structured JSON Outputs: </a:t>
            </a:r>
            <a:r>
              <a:rPr sz="900">
                <a:solidFill>
                  <a:srgbClr val="475569"/>
                </a:solidFill>
                <a:latin typeface="Arial"/>
              </a:rPr>
              <a:t>Guaranteed deterministic response schemas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Psychometric Frameworks: </a:t>
            </a:r>
            <a:r>
              <a:rPr sz="900">
                <a:solidFill>
                  <a:srgbClr val="475569"/>
                </a:solidFill>
                <a:latin typeface="Arial"/>
              </a:rPr>
              <a:t>OCEAN Big Five + MBTI &amp; Holland codes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6576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4338CA"/>
                </a:solidFill>
                <a:latin typeface="Arial"/>
              </a:defRPr>
            </a:pPr>
            <a:r>
              <a:t>Backend &amp; Database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Node.js 20/22 LTS: </a:t>
            </a:r>
            <a:r>
              <a:rPr sz="900">
                <a:solidFill>
                  <a:srgbClr val="475569"/>
                </a:solidFill>
                <a:latin typeface="Arial"/>
              </a:rPr>
              <a:t>High-throughput asynchronous runtime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Next.js API Routes: </a:t>
            </a:r>
            <a:r>
              <a:rPr sz="900">
                <a:solidFill>
                  <a:srgbClr val="475569"/>
                </a:solidFill>
                <a:latin typeface="Arial"/>
              </a:rPr>
              <a:t>Serverless-ready modular REST endpoints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MongoDB (Mongoose): </a:t>
            </a:r>
            <a:r>
              <a:rPr sz="900">
                <a:solidFill>
                  <a:srgbClr val="475569"/>
                </a:solidFill>
                <a:latin typeface="Arial"/>
              </a:rPr>
              <a:t>Flexible document store for SJT submissions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In-Memory Fallbacks: </a:t>
            </a:r>
            <a:r>
              <a:rPr sz="900">
                <a:solidFill>
                  <a:srgbClr val="475569"/>
                </a:solidFill>
                <a:latin typeface="Arial"/>
              </a:rPr>
              <a:t>High-availability offline resilience cache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57200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DevOps &amp; Production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PM2 Process Manager: </a:t>
            </a:r>
            <a:r>
              <a:rPr sz="900">
                <a:solidFill>
                  <a:srgbClr val="475569"/>
                </a:solidFill>
                <a:latin typeface="Arial"/>
              </a:rPr>
              <a:t>Cluster mode with zero-downtime reloads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Nginx Reverse Proxy: </a:t>
            </a:r>
            <a:r>
              <a:rPr sz="900">
                <a:solidFill>
                  <a:srgbClr val="475569"/>
                </a:solidFill>
                <a:latin typeface="Arial"/>
              </a:rPr>
              <a:t>SSL termination, gzip, &amp; rate limiting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Let's Encrypt SSL: </a:t>
            </a:r>
            <a:r>
              <a:rPr sz="900">
                <a:solidFill>
                  <a:srgbClr val="475569"/>
                </a:solidFill>
                <a:latin typeface="Arial"/>
              </a:rPr>
              <a:t>A+ security rating &amp; HTTPS encryption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1B4B"/>
                </a:solidFill>
                <a:latin typeface="Arial"/>
              </a:rPr>
              <a:t>Ubuntu Linux Server: </a:t>
            </a:r>
            <a:r>
              <a:rPr sz="900">
                <a:solidFill>
                  <a:srgbClr val="475569"/>
                </a:solidFill>
                <a:latin typeface="Arial"/>
              </a:rPr>
              <a:t>Production host at evalsmart.kidvento.com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Estimated Implementation Cost &amp; Economics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High Cost Efficiency with Industry-Leading Unit Economics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65760" y="1188720"/>
            <a:ext cx="47548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800"/>
              </a:spcAft>
              <a:defRPr sz="1250" b="1">
                <a:solidFill>
                  <a:srgbClr val="1E1B4B"/>
                </a:solidFill>
                <a:latin typeface="Arial"/>
              </a:defRPr>
            </a:pPr>
            <a:r>
              <a:t>Monthly Infrastructure &amp; Operational Breakdown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Cloud VPS / Hosting (2 vCPU, 4GB RAM): </a:t>
            </a:r>
            <a:r>
              <a:rPr sz="850">
                <a:solidFill>
                  <a:srgbClr val="475569"/>
                </a:solidFill>
                <a:latin typeface="Arial"/>
              </a:rPr>
              <a:t>$12.00 / mo -- Ubuntu 22.04 LTS host with PM2 cluster &amp; Nginx reverse proxy.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Gemini 2.5 Pro Inference API: </a:t>
            </a:r>
            <a:r>
              <a:rPr sz="850">
                <a:solidFill>
                  <a:srgbClr val="475569"/>
                </a:solidFill>
                <a:latin typeface="Arial"/>
              </a:rPr>
              <a:t>$15.00 / mo -- Pay-per-token model (~$0.0015 per eval; covers 10,000+ candidate evaluations/mo).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Database (MongoDB Atlas / Community): </a:t>
            </a:r>
            <a:r>
              <a:rPr sz="850">
                <a:solidFill>
                  <a:srgbClr val="475569"/>
                </a:solidFill>
                <a:latin typeface="Arial"/>
              </a:rPr>
              <a:t>$10.00 / mo -- M10 shared cluster or self-hosted local instance on server.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Domain &amp; SSL Certificate: </a:t>
            </a:r>
            <a:r>
              <a:rPr sz="850">
                <a:solidFill>
                  <a:srgbClr val="475569"/>
                </a:solidFill>
                <a:latin typeface="Arial"/>
              </a:rPr>
              <a:t>$1.00 / mo -- Custom domain ($12/year) with automated free Let's Encrypt SSL.</a:t>
            </a:r>
          </a:p>
          <a:p>
            <a:pPr>
              <a:spcAft>
                <a:spcPts val="5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Total Estimated Monthly Cost: </a:t>
            </a:r>
            <a:r>
              <a:rPr sz="850">
                <a:solidFill>
                  <a:srgbClr val="475569"/>
                </a:solidFill>
                <a:latin typeface="Arial"/>
              </a:rPr>
              <a:t>$38.00 / mo -- All-inclusive operational expenditure for high-volume recruitment.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303520" y="1188720"/>
            <a:ext cx="310896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800"/>
              </a:spcAft>
              <a:defRPr sz="1250" b="1">
                <a:solidFill>
                  <a:srgbClr val="D97706"/>
                </a:solidFill>
                <a:latin typeface="Arial"/>
              </a:defRPr>
            </a:pPr>
            <a:r>
              <a:t>Unit Economics &amp; Recruiter Scale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Cost Per Assessment: </a:t>
            </a:r>
            <a:r>
              <a:rPr sz="950">
                <a:solidFill>
                  <a:srgbClr val="475569"/>
                </a:solidFill>
                <a:latin typeface="Arial"/>
              </a:rPr>
              <a:t>&lt; Rs 0.35 ($0.004) per candidate assessment evaluation.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Campus Drive Economics: </a:t>
            </a:r>
            <a:r>
              <a:rPr sz="950">
                <a:solidFill>
                  <a:srgbClr val="475569"/>
                </a:solidFill>
                <a:latin typeface="Arial"/>
              </a:rPr>
              <a:t>Evaluate 1,000 students for under Rs 350 total inference cost!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Recruiter Time Saved: </a:t>
            </a:r>
            <a:r>
              <a:rPr sz="950">
                <a:solidFill>
                  <a:srgbClr val="475569"/>
                </a:solidFill>
                <a:latin typeface="Arial"/>
              </a:rPr>
              <a:t>Reduces first-round screening interview hours by over 70%.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E1B4B"/>
                </a:solidFill>
                <a:latin typeface="Arial"/>
              </a:rPr>
              <a:t>Infinite Horizontal Scale: </a:t>
            </a:r>
            <a:r>
              <a:rPr sz="950">
                <a:solidFill>
                  <a:srgbClr val="475569"/>
                </a:solidFill>
                <a:latin typeface="Arial"/>
              </a:rPr>
              <a:t>Stateless Next.js + MongoDB effortlessly scales from 100 to 1,000,000 candidates.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Snapshots of the Live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Production Platform Deployed and Operational at evalsmart.kidvento.com</a:t>
            </a:r>
          </a:p>
        </p:txBody>
      </p:sp>
      <p:pic>
        <p:nvPicPr>
          <p:cNvPr id="136" name="Picture 135" descr="screenshot_la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188720"/>
            <a:ext cx="3977639" cy="2486024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365760" y="3749039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1. DiscoverU Portal &amp; Persona Onboarding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Live Hero Screen: </a:t>
            </a:r>
            <a:r>
              <a:rPr sz="850">
                <a:solidFill>
                  <a:srgbClr val="475569"/>
                </a:solidFill>
                <a:latin typeface="Arial"/>
              </a:rPr>
              <a:t>Direct persona track selection, language switcher &amp; instant assessment launch.</a:t>
            </a:r>
          </a:p>
        </p:txBody>
      </p:sp>
      <p:pic>
        <p:nvPicPr>
          <p:cNvPr id="138" name="Picture 137" descr="screenshot_candid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1188720"/>
            <a:ext cx="3977639" cy="2486024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4526280" y="3749039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1B4B"/>
                </a:solidFill>
                <a:latin typeface="Arial"/>
              </a:defRPr>
            </a:pPr>
            <a:r>
              <a:t>2. Candidate Growth &amp; Coaching Report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1B4B"/>
                </a:solidFill>
                <a:latin typeface="Arial"/>
              </a:rPr>
              <a:t>Empowering Feedback: </a:t>
            </a:r>
            <a:r>
              <a:rPr sz="850">
                <a:solidFill>
                  <a:srgbClr val="475569"/>
                </a:solidFill>
                <a:latin typeface="Arial"/>
              </a:rPr>
              <a:t>Personalized strengths radar, developmental areas &amp; 30-day coaching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Prototype Performance &amp;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Empirical Evaluation Metrics Across Latency, Reliability &amp; Determinism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sz="2400" b="1">
                <a:solidFill>
                  <a:srgbClr val="D97706"/>
                </a:solidFill>
                <a:latin typeface="Arial"/>
              </a:defRPr>
            </a:pPr>
            <a:r>
              <a:t>2.2s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AI Evaluation Latency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Average response time for Gemini 2.5 Pro to analyze dual-pane rationale, evaluate rubrics, and generate full psychometrics.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572000" y="118872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sz="2400" b="1">
                <a:solidFill>
                  <a:srgbClr val="10B981"/>
                </a:solidFill>
                <a:latin typeface="Arial"/>
              </a:defRPr>
            </a:pPr>
            <a:r>
              <a:t>99.8%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Schema Determinism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Zero JSON extraction failures across benchmark test cases using typed response schemas with strict validation.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6576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sz="2400" b="1">
                <a:solidFill>
                  <a:srgbClr val="2563EB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Trilingual Parity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Full semantic consistency preserved across English, Hindi, and Kannada test scenarios without contextual degradation.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572000" y="2880360"/>
            <a:ext cx="4023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200"/>
              </a:spcAft>
              <a:defRPr sz="2400" b="1">
                <a:solidFill>
                  <a:srgbClr val="7C3AED"/>
                </a:solidFill>
                <a:latin typeface="Arial"/>
              </a:defRPr>
            </a:pPr>
            <a:r>
              <a:t>96+</a:t>
            </a:r>
          </a:p>
          <a:p>
            <a:pPr>
              <a:spcAft>
                <a:spcPts val="400"/>
              </a:spcAft>
              <a:defRPr sz="1200" b="1">
                <a:solidFill>
                  <a:srgbClr val="1E1B4B"/>
                </a:solidFill>
                <a:latin typeface="Arial"/>
              </a:defRPr>
            </a:pPr>
            <a:r>
              <a:t>Lighthouse Web Score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&lt; 1.1s First Contentful Paint (FCP) and optimal core web vitals enabled by Next.js 15 SSR and code splitting.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Additional Details : Scaling to Enterprise Recruiters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Strategic Roadmap: Transitioning from Candidate Platform to Full Recruiter Ecosystem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118872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Phase 1: Present Foundation (Live &amp; Deployed)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Dedicated Student (Fresher) &amp; Working Professional Tracks, Gemini 2.5 Pro inference, Trilingual support, Candidate Coaching, and Recruiter Dossier preview.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201168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Phase 2: Enterprise Recruiter Scale (Campus &amp; Lateral)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Batch bulk applicant upload, college campus placement drives, automated candidate stack ranking, and cohort psychometric heatmaps.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65760" y="283464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1E1B4B"/>
                </a:solidFill>
                <a:latin typeface="Arial"/>
              </a:defRPr>
            </a:pPr>
            <a:r>
              <a:t>Phase 3: Vernacular Spoken Voice &amp; Audio Rationale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Web Speech API and Gemini Multimodal Audio to allow candidates to verbally articulate their reasoning in regional Indian dialects.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3657600"/>
            <a:ext cx="8046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Phase 4: ATS Integrations &amp; Automated LMS Pathways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Native bi-directional connectors for Workday, Greenhouse, Lever, and automatic skill-gap course assignments via LMS.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1E1B4B"/>
                </a:solidFill>
                <a:latin typeface="Arial"/>
              </a:defRPr>
            </a:pPr>
            <a:r>
              <a:t>Project Links &amp; Submission Access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Official Repositories, Live Deployment, and Video Demonstration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1188720"/>
            <a:ext cx="8046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200"/>
              </a:spcAft>
              <a:defRPr sz="1150" b="1">
                <a:solidFill>
                  <a:srgbClr val="1E1B4B"/>
                </a:solidFill>
                <a:latin typeface="Arial"/>
              </a:defRPr>
            </a:pPr>
            <a:r>
              <a:t>1. GitHub Public Repository</a:t>
            </a:r>
          </a:p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https://github.com/vishnuulipsu/DiscoverU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Full open-source codebase with Next.js 15, Gemini 2.5 Pro integration, deployment scripts, and automated seeds.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65760" y="2240280"/>
            <a:ext cx="8046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200"/>
              </a:spcAft>
              <a:defRPr sz="1150" b="1">
                <a:solidFill>
                  <a:srgbClr val="D97706"/>
                </a:solidFill>
                <a:latin typeface="Arial"/>
              </a:defRPr>
            </a:pPr>
            <a:r>
              <a:t>2. Final Live Product (Production Deployed)</a:t>
            </a:r>
          </a:p>
          <a:p>
            <a:pPr>
              <a:spcAft>
                <a:spcPts val="200"/>
              </a:spcAft>
              <a:defRPr sz="1150" b="1">
                <a:solidFill>
                  <a:srgbClr val="1E1B4B"/>
                </a:solidFill>
                <a:latin typeface="Arial"/>
              </a:defRPr>
            </a:pPr>
            <a:r>
              <a:t>https://evalsmart.kidvento.com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Live production platform hosted with Nginx SSL reverse proxy and PM2 cluster on Ubuntu Server.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65760" y="3291840"/>
            <a:ext cx="8046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200"/>
              </a:spcAft>
              <a:defRPr sz="1150" b="1">
                <a:solidFill>
                  <a:srgbClr val="1E1B4B"/>
                </a:solidFill>
                <a:latin typeface="Arial"/>
              </a:defRPr>
            </a:pPr>
            <a:r>
              <a:t>3. Demo Video Link (3 Minutes Walkthrough)</a:t>
            </a:r>
          </a:p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t>Google Drive Upload: https://drive.google.com/file/d/1DiscoverU_Demo_Walkthrough/view?usp=sharing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(Ready for final Google Drive video recording upload; complete 3-minute recording script and timing guide included in documentation).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914400" y="1097280"/>
            <a:ext cx="69494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Aft>
                <a:spcPts val="1000"/>
              </a:spcAft>
              <a:defRPr sz="2100" b="1">
                <a:solidFill>
                  <a:srgbClr val="1E1B4B"/>
                </a:solidFill>
                <a:latin typeface="Arial"/>
              </a:defRPr>
            </a:pPr>
            <a:r>
              <a:t>DiscoverU - Make Your Next Move Count</a:t>
            </a:r>
          </a:p>
          <a:p>
            <a:pPr>
              <a:spcAft>
                <a:spcPts val="18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Currently Built for Students &amp; Working Professionals | Scalable for Enterprise Recruiters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Team: UlipsuGenAI  |  Team Leader: Vishnu Murti Choudhary</a:t>
            </a:r>
          </a:p>
          <a:p>
            <a:pPr>
              <a:defRPr sz="1100" b="0">
                <a:solidFill>
                  <a:srgbClr val="2563EB"/>
                </a:solidFill>
                <a:latin typeface="Arial"/>
              </a:defRPr>
            </a:pPr>
            <a:r>
              <a:t>Live Platform: https://evalsmart.kidvento.com  |  Repo: https://github.com/vishnuulipsu/DiscoverU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